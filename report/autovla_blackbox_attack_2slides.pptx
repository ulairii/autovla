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13816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Showcase 1: Strongest Black-box Patch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49808"/>
            <a:ext cx="768096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Aptos"/>
              </a:rPr>
              <a:t>Horizon-center patch on front camera causes a large final trajectory deviation.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11201400" cy="49377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34440"/>
            <a:ext cx="106070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00" b="1">
                <a:solidFill>
                  <a:srgbClr val="0F172A"/>
                </a:solidFill>
                <a:latin typeface="Aptos"/>
              </a:rPr>
              <a:t>Black-box: front camera only | no gradients | position sweep | trajectory-shift objective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69037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bbf47b_inpu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93392"/>
            <a:ext cx="6601968" cy="20960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4315968"/>
            <a:ext cx="65836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Input observation: clean front image vs patched front image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783080"/>
            <a:ext cx="406908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bbf47b_traj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712" y="1993392"/>
            <a:ext cx="2725042" cy="3493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91272" y="5559552"/>
            <a:ext cx="35661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ptos"/>
              </a:rPr>
              <a:t>Trajectory overlay: GT / clean pred / attacked pred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17830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4882896"/>
            <a:ext cx="713232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000" b="1">
                <a:solidFill>
                  <a:srgbClr val="475569"/>
                </a:solidFill>
                <a:latin typeface="Aptos"/>
              </a:rPr>
              <a:t>final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4864608"/>
            <a:ext cx="1115568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800" b="1">
                <a:solidFill>
                  <a:srgbClr val="DC2626"/>
                </a:solidFill>
                <a:latin typeface="Aptos"/>
              </a:rPr>
              <a:t>9.25m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4800600"/>
            <a:ext cx="17830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78608" y="4882896"/>
            <a:ext cx="713232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000" b="1">
                <a:solidFill>
                  <a:srgbClr val="475569"/>
                </a:solidFill>
                <a:latin typeface="Aptos"/>
              </a:rPr>
              <a:t>right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864608"/>
            <a:ext cx="1115568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800" b="1">
                <a:solidFill>
                  <a:srgbClr val="059669"/>
                </a:solidFill>
                <a:latin typeface="Aptos"/>
              </a:rPr>
              <a:t>+3.19m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800600"/>
            <a:ext cx="17830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4882896"/>
            <a:ext cx="713232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000" b="1">
                <a:solidFill>
                  <a:srgbClr val="475569"/>
                </a:solidFill>
                <a:latin typeface="Aptos"/>
              </a:rPr>
              <a:t>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4864608"/>
            <a:ext cx="1115568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800" b="1">
                <a:solidFill>
                  <a:srgbClr val="2563EB"/>
                </a:solidFill>
                <a:latin typeface="Aptos"/>
              </a:rPr>
              <a:t>3.44m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69037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660136"/>
            <a:ext cx="6446520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200" b="1">
                <a:solidFill>
                  <a:srgbClr val="0F172A"/>
                </a:solidFill>
                <a:latin typeface="Aptos"/>
              </a:rPr>
              <a:t>Clean prediction goes straight; attacked prediction shifts right and slows/shortens the planned path.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35640" y="329184"/>
            <a:ext cx="822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475569"/>
                </a:solidFill>
                <a:latin typeface="Aptos"/>
              </a:rPr>
              <a:t>01bbf47b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13816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Showcase 2: Scene-aware Placement Helps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49808"/>
            <a:ext cx="768096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Aptos"/>
              </a:rPr>
              <a:t>Patch is placed on a salient construction/roadside cue selected from the front image.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11201400" cy="49377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34440"/>
            <a:ext cx="106070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00" b="1">
                <a:solidFill>
                  <a:srgbClr val="0F172A"/>
                </a:solidFill>
                <a:latin typeface="Aptos"/>
              </a:rPr>
              <a:t>Black-box: front camera only | no gradients | position sweep | trajectory-shift objective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69037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a7d01c_inpu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93392"/>
            <a:ext cx="6601968" cy="20960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4315968"/>
            <a:ext cx="65836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ptos"/>
              </a:rPr>
              <a:t>Input observation: clean front image vs patched front image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783080"/>
            <a:ext cx="406908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a7d01c_traj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712" y="1993392"/>
            <a:ext cx="2725042" cy="3493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91272" y="5559552"/>
            <a:ext cx="35661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ptos"/>
              </a:rPr>
              <a:t>Trajectory overlay: GT / clean pred / attacked pred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17830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4882896"/>
            <a:ext cx="713232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000" b="1">
                <a:solidFill>
                  <a:srgbClr val="475569"/>
                </a:solidFill>
                <a:latin typeface="Aptos"/>
              </a:rPr>
              <a:t>final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4864608"/>
            <a:ext cx="1115568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800" b="1">
                <a:solidFill>
                  <a:srgbClr val="DC2626"/>
                </a:solidFill>
                <a:latin typeface="Aptos"/>
              </a:rPr>
              <a:t>3.69m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4800600"/>
            <a:ext cx="17830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78608" y="4882896"/>
            <a:ext cx="713232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000" b="1">
                <a:solidFill>
                  <a:srgbClr val="475569"/>
                </a:solidFill>
                <a:latin typeface="Aptos"/>
              </a:rPr>
              <a:t>right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864608"/>
            <a:ext cx="1115568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800" b="1">
                <a:solidFill>
                  <a:srgbClr val="059669"/>
                </a:solidFill>
                <a:latin typeface="Aptos"/>
              </a:rPr>
              <a:t>+2.35m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800600"/>
            <a:ext cx="17830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4882896"/>
            <a:ext cx="713232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000" b="1">
                <a:solidFill>
                  <a:srgbClr val="475569"/>
                </a:solidFill>
                <a:latin typeface="Aptos"/>
              </a:rPr>
              <a:t>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4864608"/>
            <a:ext cx="1115568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800" b="1">
                <a:solidFill>
                  <a:srgbClr val="2563EB"/>
                </a:solidFill>
                <a:latin typeface="Aptos"/>
              </a:rPr>
              <a:t>1.47m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69037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660136"/>
            <a:ext cx="6446520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200" b="1">
                <a:solidFill>
                  <a:srgbClr val="0F172A"/>
                </a:solidFill>
                <a:latin typeface="Aptos"/>
              </a:rPr>
              <a:t>Compared with fixed placement, scene-aware placement increases final shift from 1.31 m to 3.69 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35640" y="329184"/>
            <a:ext cx="822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475569"/>
                </a:solidFill>
                <a:latin typeface="Aptos"/>
              </a:rPr>
              <a:t>01a7d01c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