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Case 1: strongest black-box patch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8404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01bbf47b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p20 front-camera patch; final shift 9.25 m, right shift +3.19 m, mean shift 3.44 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2471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bbf47b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12"/>
            <a:ext cx="6812280" cy="2162794"/>
          </a:xfrm>
          <a:prstGeom prst="rect">
            <a:avLst/>
          </a:prstGeom>
        </p:spPr>
      </p:pic>
      <p:pic>
        <p:nvPicPr>
          <p:cNvPr id="7" name="Picture 6" descr="01bbf47b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74514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99632"/>
            <a:ext cx="6812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Clean front input  |  Patched front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619963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GT / clean prediction / attacked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Selected position = horizon_center; final shift 9.25 m, right shift +3.19 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Case 2: scene-aware placement helps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8404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01a7d01c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p20 front-camera patch; final shift 3.69 m, right shift +2.35 m, mean shift 1.47 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2471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a7d01c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12"/>
            <a:ext cx="6812280" cy="2162794"/>
          </a:xfrm>
          <a:prstGeom prst="rect">
            <a:avLst/>
          </a:prstGeom>
        </p:spPr>
      </p:pic>
      <p:pic>
        <p:nvPicPr>
          <p:cNvPr id="7" name="Picture 6" descr="01a7d01c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74514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99632"/>
            <a:ext cx="6812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Clean front input  |  Patched front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619963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GT / clean prediction / attacked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Selected position = scene_aware; final shift 3.69 m, right shift +2.35 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Case 3: AutoVLA black-box patch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8404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0141260a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p20 front-camera patch; final shift 2.44 m, right shift -2.38 m, mean shift 1.26 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2471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41260a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12"/>
            <a:ext cx="6812280" cy="2162794"/>
          </a:xfrm>
          <a:prstGeom prst="rect">
            <a:avLst/>
          </a:prstGeom>
        </p:spPr>
      </p:pic>
      <p:pic>
        <p:nvPicPr>
          <p:cNvPr id="7" name="Picture 6" descr="0141260a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74514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99632"/>
            <a:ext cx="6812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Clean front input  |  Patched front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619963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GT / clean prediction / attacked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Selected position = bottom_center; final shift 2.44 m, left/opposite shift -2.38 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Case 4: AutoVLA black-box patch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8404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000681a0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p20 front-camera patch; final shift 1.74 m, right shift +1.57 m, mean shift 0.88 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2471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00681a0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12"/>
            <a:ext cx="6812280" cy="2162794"/>
          </a:xfrm>
          <a:prstGeom prst="rect">
            <a:avLst/>
          </a:prstGeom>
        </p:spPr>
      </p:pic>
      <p:pic>
        <p:nvPicPr>
          <p:cNvPr id="7" name="Picture 6" descr="000681a0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74514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99632"/>
            <a:ext cx="6812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Clean front input  |  Patched front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619963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GT / clean prediction / attacked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Selected position = road_left; final shift 1.74 m, right shift +1.57 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961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Case 5: AutoVLA black-box patch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384048"/>
            <a:ext cx="1051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Aptos"/>
              </a:rPr>
              <a:t>012f334e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Aptos"/>
              </a:rPr>
              <a:t>p20 front-camera patch; final shift 0.00 m, right shift -0.00 m, mean shift 0.00 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124712"/>
            <a:ext cx="11183112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012f334e_inp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3312"/>
            <a:ext cx="6812280" cy="2162794"/>
          </a:xfrm>
          <a:prstGeom prst="rect">
            <a:avLst/>
          </a:prstGeom>
        </p:spPr>
      </p:pic>
      <p:pic>
        <p:nvPicPr>
          <p:cNvPr id="7" name="Picture 6" descr="012f334e_traj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745149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99632"/>
            <a:ext cx="6812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Clean front input  |  Patched front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6199632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Aptos"/>
              </a:rPr>
              <a:t>GT / clean prediction / attacked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No decoded trajectory change in this sample; selected position = road_left.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