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896112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3400" b="1">
                <a:solidFill>
                  <a:srgbClr val="0F172A"/>
                </a:solidFill>
                <a:latin typeface="Aptos"/>
              </a:rPr>
              <a:t>Black-box Patch Attack on AutoVLA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96112"/>
            <a:ext cx="84124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900" b="0">
                <a:solidFill>
                  <a:srgbClr val="475569"/>
                </a:solidFill>
                <a:latin typeface="Aptos"/>
              </a:rPr>
              <a:t>Query-only trajectory manipulation on nuScenes front camera inputs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508760"/>
            <a:ext cx="17830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0664" y="1673351"/>
            <a:ext cx="347472" cy="34747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723643"/>
            <a:ext cx="182880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130552"/>
            <a:ext cx="14173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Aptos"/>
              </a:rPr>
              <a:t>Clean AutoVLA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377439"/>
            <a:ext cx="14173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decode clean trajectory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04872" y="2075688"/>
            <a:ext cx="310896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788920" y="1508760"/>
            <a:ext cx="17830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35224" y="1673351"/>
            <a:ext cx="347472" cy="34747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723643"/>
            <a:ext cx="182880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3512" y="2130552"/>
            <a:ext cx="14173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Aptos"/>
              </a:rPr>
              <a:t>Patch placement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3512" y="2377439"/>
            <a:ext cx="14173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scene-aware + sweep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99431" y="2075688"/>
            <a:ext cx="310897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983480" y="1508760"/>
            <a:ext cx="17830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129784" y="1673351"/>
            <a:ext cx="347472" cy="34747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9512" y="1723643"/>
            <a:ext cx="182880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8072" y="2130552"/>
            <a:ext cx="14173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Aptos"/>
              </a:rPr>
              <a:t>Black-box 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48072" y="2377439"/>
            <a:ext cx="14173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evolution / NES, no gradients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93992" y="2075688"/>
            <a:ext cx="310896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178040" y="1508760"/>
            <a:ext cx="17830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24344" y="1673351"/>
            <a:ext cx="347472" cy="34747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34071" y="1723643"/>
            <a:ext cx="182880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1" y="2130552"/>
            <a:ext cx="14173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Aptos"/>
              </a:rPr>
              <a:t>Objective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2631" y="2377439"/>
            <a:ext cx="14173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target-direction trajectory shift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988552" y="2075688"/>
            <a:ext cx="310896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372600" y="1508760"/>
            <a:ext cx="17830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518904" y="1673351"/>
            <a:ext cx="347472" cy="34747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28632" y="1723643"/>
            <a:ext cx="182880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37192" y="2130552"/>
            <a:ext cx="14173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Aptos"/>
              </a:rPr>
              <a:t>Evaluate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7192" y="2377439"/>
            <a:ext cx="14173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clean vs attacked trajectory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3246120"/>
            <a:ext cx="438912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520440"/>
            <a:ext cx="38404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200" b="1">
                <a:solidFill>
                  <a:srgbClr val="0F172A"/>
                </a:solidFill>
                <a:latin typeface="Aptos"/>
              </a:rPr>
              <a:t>Attack objective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3977639"/>
            <a:ext cx="388620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475569"/>
                </a:solidFill>
                <a:latin typeface="Aptos"/>
              </a:defRPr>
            </a:pPr>
            <a:r>
              <a:t>Use decoded trajectory only: clean prediction vs attacked prediction.</a:t>
            </a:r>
          </a:p>
          <a:p>
            <a:pPr>
              <a:spcAft>
                <a:spcPts val="700"/>
              </a:spcAft>
              <a:defRPr sz="1600">
                <a:solidFill>
                  <a:srgbClr val="475569"/>
                </a:solidFill>
                <a:latin typeface="Aptos"/>
              </a:defRPr>
            </a:pPr>
            <a:r>
              <a:t>Position-aware loss rewards target-direction lateral shift and final displacement.</a:t>
            </a:r>
          </a:p>
          <a:p>
            <a:pPr>
              <a:spcAft>
                <a:spcPts val="700"/>
              </a:spcAft>
              <a:defRPr sz="1600">
                <a:solidFill>
                  <a:srgbClr val="475569"/>
                </a:solidFill>
                <a:latin typeface="Aptos"/>
              </a:defRPr>
            </a:pPr>
            <a:r>
              <a:t>Penalizes wrong-way lateral movement and pure forward/backward drift.</a:t>
            </a:r>
          </a:p>
          <a:p>
            <a:pPr>
              <a:spcAft>
                <a:spcPts val="700"/>
              </a:spcAft>
              <a:defRPr sz="1600">
                <a:solidFill>
                  <a:srgbClr val="475569"/>
                </a:solidFill>
                <a:latin typeface="Aptos"/>
              </a:defRPr>
            </a:pPr>
            <a:r>
              <a:t>Evolution search keeps best candidates because generation outputs are non-smooth.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49240" y="3246120"/>
            <a:ext cx="626364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0" y="3520440"/>
            <a:ext cx="411480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200" b="1">
                <a:solidFill>
                  <a:srgbClr val="0F172A"/>
                </a:solidFill>
                <a:latin typeface="Aptos"/>
              </a:rPr>
              <a:t>Scene-aware placement</a:t>
            </a:r>
          </a:p>
        </p:txBody>
      </p:sp>
      <p:pic>
        <p:nvPicPr>
          <p:cNvPr id="38" name="Picture 37" descr="over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3858768"/>
            <a:ext cx="1076886" cy="17830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577840" y="5623560"/>
            <a:ext cx="5669280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Heuristic probes construction cues, road/lane texture, and horizon fallback. Black-box sweep then selects the best position per scene.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3400" b="1">
                <a:solidFill>
                  <a:srgbClr val="0F172A"/>
                </a:solidFill>
                <a:latin typeface="Aptos"/>
              </a:rPr>
              <a:t>Results: Smaller Patch Helps, but Still Not Robust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96112"/>
            <a:ext cx="8046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900" b="0">
                <a:solidFill>
                  <a:srgbClr val="475569"/>
                </a:solidFill>
                <a:latin typeface="Aptos"/>
              </a:rPr>
              <a:t>p20 front-camera patch, 5 nuScenes samples, scene-aware position sweep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24231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581912"/>
            <a:ext cx="2093976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00" b="1">
                <a:solidFill>
                  <a:srgbClr val="475569"/>
                </a:solidFill>
                <a:latin typeface="Aptos"/>
              </a:rPr>
              <a:t>Avg final shift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856232"/>
            <a:ext cx="209397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3100" b="1">
                <a:solidFill>
                  <a:srgbClr val="2563EB"/>
                </a:solidFill>
                <a:latin typeface="Aptos"/>
              </a:rPr>
              <a:t>3.42 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13432"/>
            <a:ext cx="2093976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vs 2.95 m without scene-aware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417320"/>
            <a:ext cx="24231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10712" y="1581912"/>
            <a:ext cx="2093976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00" b="1">
                <a:solidFill>
                  <a:srgbClr val="475569"/>
                </a:solidFill>
                <a:latin typeface="Aptos"/>
              </a:rPr>
              <a:t>Avg right shift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1856232"/>
            <a:ext cx="209397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3100" b="1">
                <a:solidFill>
                  <a:srgbClr val="059669"/>
                </a:solidFill>
                <a:latin typeface="Aptos"/>
              </a:rPr>
              <a:t>0.95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2313432"/>
            <a:ext cx="2093976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vs 0.61 m without scene-aware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80" y="1417320"/>
            <a:ext cx="24231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62472" y="1581912"/>
            <a:ext cx="2093976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00" b="1">
                <a:solidFill>
                  <a:srgbClr val="475569"/>
                </a:solidFill>
                <a:latin typeface="Aptos"/>
              </a:rPr>
              <a:t>Strong cases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62472" y="1856232"/>
            <a:ext cx="209397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3100" b="1">
                <a:solidFill>
                  <a:srgbClr val="D97706"/>
                </a:solidFill>
                <a:latin typeface="Aptos"/>
              </a:rPr>
              <a:t>2 /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313432"/>
            <a:ext cx="2093976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final shift &gt; 3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1417320"/>
            <a:ext cx="24231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1581912"/>
            <a:ext cx="2093976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00" b="1">
                <a:solidFill>
                  <a:srgbClr val="475569"/>
                </a:solidFill>
                <a:latin typeface="Aptos"/>
              </a:rPr>
              <a:t>Best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4232" y="1856232"/>
            <a:ext cx="209397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3100" b="1">
                <a:solidFill>
                  <a:srgbClr val="DC2626"/>
                </a:solidFill>
                <a:latin typeface="Aptos"/>
              </a:rPr>
              <a:t>9.25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4232" y="2313432"/>
            <a:ext cx="2093976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final shift, 3.19 m right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2788920"/>
            <a:ext cx="544068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063240"/>
            <a:ext cx="42976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200" b="1">
                <a:solidFill>
                  <a:srgbClr val="0F172A"/>
                </a:solidFill>
                <a:latin typeface="Aptos"/>
              </a:rPr>
              <a:t>Best case: horizon-center patch</a:t>
            </a:r>
          </a:p>
        </p:txBody>
      </p:sp>
      <p:pic>
        <p:nvPicPr>
          <p:cNvPr id="22" name="Picture 21" descr="best_traj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657600"/>
            <a:ext cx="4983480" cy="194355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1248" y="5532120"/>
            <a:ext cx="43891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Token 01bbf47b: final 9.25 m, right +3.19 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2788920"/>
            <a:ext cx="516636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3063240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2200" b="1">
                <a:solidFill>
                  <a:srgbClr val="0F172A"/>
                </a:solidFill>
                <a:latin typeface="Aptos"/>
              </a:rPr>
              <a:t>Scene-aware gain: construction cue</a:t>
            </a:r>
          </a:p>
        </p:txBody>
      </p:sp>
      <p:pic>
        <p:nvPicPr>
          <p:cNvPr id="26" name="Picture 25" descr="sceneaware_traj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3657600"/>
            <a:ext cx="4709160" cy="18365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93408" y="5532120"/>
            <a:ext cx="44805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Token 01a7d01c: scene-aware improves final 1.31 m -&gt; 3.69 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6080760"/>
            <a:ext cx="11018520" cy="42976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6181344"/>
            <a:ext cx="105613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Takeaway: scene-aware placement improves targeted lateral shift, but black-box front-only attacks remain inconsistent. Next: object-aware placement for cars, pedestrians, and traffic lights.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