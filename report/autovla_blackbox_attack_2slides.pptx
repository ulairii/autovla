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Showcase 1: Strongest black-box patch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475569"/>
                </a:solidFill>
                <a:latin typeface="Aptos"/>
              </a:rPr>
              <a:t>01bbf47b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Aptos"/>
              </a:rPr>
              <a:t>Front-camera patch; final shift 9.25 m, right shift +3.19 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1bbf47b_inpu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6812280" cy="2162794"/>
          </a:xfrm>
          <a:prstGeom prst="rect">
            <a:avLst/>
          </a:prstGeom>
        </p:spPr>
      </p:pic>
      <p:pic>
        <p:nvPicPr>
          <p:cNvPr id="7" name="Picture 6" descr="01bbf47b_traj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3745149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6812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Clean front input  |  Patched front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619963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GT / clean prediction / attacked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Attacked prediction shifts right and shortens/slows the planned trajectory.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Showcase 2: Scene-aware placement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3840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475569"/>
                </a:solidFill>
                <a:latin typeface="Aptos"/>
              </a:rPr>
              <a:t>01a7d01c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Aptos"/>
              </a:rPr>
              <a:t>Patch placed on a salient roadside/construction cue; final shift 3.69 m, right shift +2.35 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1a7d01c_inpu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6812280" cy="2162794"/>
          </a:xfrm>
          <a:prstGeom prst="rect">
            <a:avLst/>
          </a:prstGeom>
        </p:spPr>
      </p:pic>
      <p:pic>
        <p:nvPicPr>
          <p:cNvPr id="7" name="Picture 6" descr="01a7d01c_traj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3745149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99632"/>
            <a:ext cx="6812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Clean front input  |  Patched front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619963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GT / clean prediction / attacked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Scene-aware placement improves this case from 1.31 m to 3.69 m final shift.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